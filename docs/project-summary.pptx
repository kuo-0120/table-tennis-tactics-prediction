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6" r:id="rId11"/>
    <p:sldId id="267" r:id="rId12"/>
    <p:sldId id="265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29" autoAdjust="0"/>
    <p:restoredTop sz="94660"/>
  </p:normalViewPr>
  <p:slideViewPr>
    <p:cSldViewPr snapToGrid="0">
      <p:cViewPr varScale="1">
        <p:scale>
          <a:sx n="55" d="100"/>
          <a:sy n="55" d="100"/>
        </p:scale>
        <p:origin x="40" y="1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712E9B-7503-9783-32DF-095AF4CC2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8D4F706-F51A-AFA8-4758-BBB231FA4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20992B-E136-886E-E31A-2C2E12D53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307-F82C-45DB-BCDE-2FF8B54939FB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ADD8F7-5784-774B-C3D2-2B48B3497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AAB9E6-18DA-A827-011E-0CE100A86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9CD8-F27E-4547-A4D8-3A71192A37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149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6EEF73-2CCF-3E37-2DE8-6E06AF2EF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36D786-7C07-C6BD-37B5-617F48B95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2CC7FCD-9995-CB3F-3D1C-0E253C9AB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307-F82C-45DB-BCDE-2FF8B54939FB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73A5804-9C47-5198-C572-32FD7A6C2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634F73-2DFA-3D83-4520-E4D63E8A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9CD8-F27E-4547-A4D8-3A71192A37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8612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D691C0-C322-C442-AEA2-FD715551E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8A04B2-AA78-A077-F422-4734450DD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82B3AA7-44BF-A4C0-7FD4-41AC609BA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307-F82C-45DB-BCDE-2FF8B54939FB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925C0B8-086C-F19C-F6DA-20815E576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6B0F33E-3168-B803-791A-7E12E6E38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9CD8-F27E-4547-A4D8-3A71192A37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6373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9148E5-EF94-E1FE-70ED-220B4D190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926BAD-427A-26FD-6B40-BCED1EBF83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029A7FB-A4F6-423E-4895-D706CEFC87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F697D61-DF65-47B8-23AF-C9ED23AC3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307-F82C-45DB-BCDE-2FF8B54939FB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192E768-CBEC-B16D-3E59-419D20DE6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198EE80-EB00-6E04-2469-421CC800F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9CD8-F27E-4547-A4D8-3A71192A37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7696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03D777-F639-5235-4164-DA30200D8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0210203-28DE-00C8-B783-DB4CA3080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E0AC6F3-F1F7-39D3-85F3-01E41DDB7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87E950C-CD13-FFBD-9E2A-0DDEA6EA43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1E8DD57-A255-5F4E-CD46-3A0E68D24F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5303A73-A013-24DC-A6B1-6DB0548C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307-F82C-45DB-BCDE-2FF8B54939FB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7D33731-4139-2488-9CE1-339CA343E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B1B1CE1-EE3D-7864-54F4-3A1B8479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9CD8-F27E-4547-A4D8-3A71192A37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8218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24ED2F-B3D1-046C-CDCA-C64863E38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28672FD-494D-B5A2-5CFE-0D7285F3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307-F82C-45DB-BCDE-2FF8B54939FB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ED6EC7C-9622-B5B4-EFBB-41D57BA0C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98991E8-D49C-DEC4-8345-E6AF4BDFD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9CD8-F27E-4547-A4D8-3A71192A37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8501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30AA36F-E8EC-B464-E741-F64271D6D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307-F82C-45DB-BCDE-2FF8B54939FB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9D8571C-A77D-6EDA-B70D-13055B86E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22E990-4F82-C814-FFF2-22114B72B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9CD8-F27E-4547-A4D8-3A71192A37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4970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831DBA-BE63-F2BA-543A-A86B054B0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AF9669-FA0A-9998-B9FA-D2BDAB935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2BFD137-1291-2E04-803E-A1F495FBF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DE85375-AF5D-ED2D-0BF1-B66FCBD2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307-F82C-45DB-BCDE-2FF8B54939FB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E90BC7C-1B45-11FA-750F-5C14A890A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2F26CF5-F8C3-D18A-C05D-3EDFDCEE1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9CD8-F27E-4547-A4D8-3A71192A37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8416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4CEF66-9BC2-7B09-D43B-C13F34A79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2D55145-2AC2-4646-D81E-D306FA3059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EE04D3D-13D8-4C31-2D53-75EC358D5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785AACF-5FC5-9C11-CFE5-28F7B8329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307-F82C-45DB-BCDE-2FF8B54939FB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253A66C-F676-CA15-0B7F-E9BD997C4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9A43069-4D33-3824-19A7-40718C6B7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9CD8-F27E-4547-A4D8-3A71192A37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6372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2BA688-F8BE-048C-8990-102D62EDA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E195C73-9C39-81BE-DCAA-D6005030E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49FF4C-0AE2-0EC2-BCA5-7B4F8A309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307-F82C-45DB-BCDE-2FF8B54939FB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2406B39-3E5A-8C7C-5CC6-01E43FD25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625CA6-28E5-5AC7-0696-5FE011EF3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9CD8-F27E-4547-A4D8-3A71192A37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0296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6911322-2892-63D3-40C4-2AAFA0E449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4084013-675C-E42C-5589-653F20ECDF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9D1795-ACD2-D2A7-2644-678039597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307-F82C-45DB-BCDE-2FF8B54939FB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6F1631-8518-984C-0BD2-E7C9ABCFC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01E7E4-D0D7-8C71-AF89-C7744F5F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9CD8-F27E-4547-A4D8-3A71192A37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472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C1BEEE0-D34F-B128-72B4-E0AB218A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E6A5D6D-1097-11BA-3A40-C6F091CBF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2C7E65-859A-7629-7B43-C3DA4CCB72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51D307-F82C-45DB-BCDE-2FF8B54939FB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2342E6-F952-FE74-9FAF-1B5C709F12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8470674-5CDC-F91E-F30D-FF7007C81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89CD8-F27E-4547-A4D8-3A71192A37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2067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77B9D1-228A-C802-9474-D0096DEA7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84100"/>
            <a:ext cx="9144000" cy="238760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</a:pPr>
            <a:r>
              <a:rPr lang="en-US" altLang="zh-TW" dirty="0" err="1">
                <a:latin typeface="+mj-ea"/>
                <a:cs typeface="Calibri" pitchFamily="34" charset="-120"/>
              </a:rPr>
              <a:t>基於時序資料之</a:t>
            </a:r>
            <a:br>
              <a:rPr lang="en-US" altLang="zh-TW" dirty="0">
                <a:latin typeface="+mj-ea"/>
              </a:rPr>
            </a:br>
            <a:r>
              <a:rPr lang="en-US" altLang="zh-TW" dirty="0" err="1">
                <a:latin typeface="+mj-ea"/>
                <a:cs typeface="Calibri" pitchFamily="34" charset="-120"/>
              </a:rPr>
              <a:t>桌球戰術與結果預測</a:t>
            </a:r>
            <a:endParaRPr lang="zh-TW" altLang="en-US" dirty="0">
              <a:latin typeface="+mj-ea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CED5D47-7572-0CAA-79A5-A3F865EA7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47935"/>
            <a:ext cx="9144000" cy="541421"/>
          </a:xfrm>
        </p:spPr>
        <p:txBody>
          <a:bodyPr/>
          <a:lstStyle/>
          <a:p>
            <a:r>
              <a:rPr lang="en-US" altLang="zh-TW" dirty="0"/>
              <a:t>AI CUP 2026 </a:t>
            </a:r>
            <a:r>
              <a:rPr lang="zh-TW" altLang="en-US" dirty="0"/>
              <a:t>春季賽歷程總結</a:t>
            </a:r>
          </a:p>
        </p:txBody>
      </p:sp>
    </p:spTree>
    <p:extLst>
      <p:ext uri="{BB962C8B-B14F-4D97-AF65-F5344CB8AC3E}">
        <p14:creationId xmlns:p14="http://schemas.microsoft.com/office/powerpoint/2010/main" val="1871859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106DFA-2228-6899-6F11-7AF3EDEF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44" y="199121"/>
            <a:ext cx="10515600" cy="1325563"/>
          </a:xfrm>
        </p:spPr>
        <p:txBody>
          <a:bodyPr/>
          <a:lstStyle/>
          <a:p>
            <a:r>
              <a:rPr lang="zh-TW" altLang="en-US" dirty="0"/>
              <a:t>預測任務介紹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E7D234-39E3-661E-89DB-439379C26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340" y="1524684"/>
            <a:ext cx="4370408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TW" altLang="en-US" sz="2600" dirty="0"/>
              <a:t>包含以下三個目標</a:t>
            </a:r>
            <a:r>
              <a:rPr lang="en-US" altLang="zh-TW" sz="2600" dirty="0"/>
              <a:t>:</a:t>
            </a:r>
          </a:p>
          <a:p>
            <a:pPr lvl="1" algn="just"/>
            <a:r>
              <a:rPr lang="zh-TW" altLang="en-US" sz="2600" dirty="0"/>
              <a:t>任務一</a:t>
            </a:r>
            <a:r>
              <a:rPr lang="en-US" altLang="zh-TW" sz="2600" dirty="0"/>
              <a:t>:</a:t>
            </a:r>
            <a:r>
              <a:rPr lang="zh-TW" altLang="en-US" sz="2600" dirty="0"/>
              <a:t>球種預測</a:t>
            </a:r>
            <a:endParaRPr lang="en-US" altLang="zh-TW" sz="2600" dirty="0"/>
          </a:p>
          <a:p>
            <a:pPr lvl="2" algn="just"/>
            <a:r>
              <a:rPr lang="zh-TW" altLang="en-US" sz="2600" dirty="0"/>
              <a:t>參數</a:t>
            </a:r>
            <a:r>
              <a:rPr lang="en-US" altLang="zh-TW" sz="2600" dirty="0"/>
              <a:t>:</a:t>
            </a:r>
            <a:r>
              <a:rPr lang="zh-TW" altLang="en-US" sz="2600" dirty="0"/>
              <a:t> </a:t>
            </a:r>
            <a:r>
              <a:rPr lang="en-US" altLang="zh-TW" sz="2600" dirty="0" err="1"/>
              <a:t>actionId</a:t>
            </a:r>
            <a:endParaRPr lang="en-US" altLang="zh-TW" sz="2600" dirty="0"/>
          </a:p>
          <a:p>
            <a:pPr lvl="2" algn="just"/>
            <a:r>
              <a:rPr lang="zh-TW" altLang="en-US" sz="2600" dirty="0"/>
              <a:t>目的</a:t>
            </a:r>
            <a:r>
              <a:rPr lang="en-US" altLang="zh-TW" sz="2600" dirty="0"/>
              <a:t>: </a:t>
            </a:r>
            <a:r>
              <a:rPr lang="zh-TW" altLang="en-US" sz="2600" dirty="0"/>
              <a:t>預測下一拍</a:t>
            </a:r>
            <a:r>
              <a:rPr lang="en-US" altLang="zh-TW" sz="2600" dirty="0"/>
              <a:t>(</a:t>
            </a:r>
            <a:r>
              <a:rPr lang="zh-TW" altLang="en-US" sz="2600" dirty="0"/>
              <a:t>第</a:t>
            </a:r>
            <a:r>
              <a:rPr lang="en-US" altLang="zh-TW" sz="2600" dirty="0"/>
              <a:t>n </a:t>
            </a:r>
            <a:r>
              <a:rPr lang="zh-TW" altLang="en-US" sz="2600" dirty="0"/>
              <a:t>拍</a:t>
            </a:r>
            <a:r>
              <a:rPr lang="en-US" altLang="zh-TW" sz="2600" dirty="0"/>
              <a:t>)</a:t>
            </a:r>
            <a:r>
              <a:rPr lang="zh-TW" altLang="en-US" sz="2600" dirty="0"/>
              <a:t>所使用的球種類別</a:t>
            </a:r>
            <a:endParaRPr lang="en-US" altLang="zh-TW" sz="2600" dirty="0"/>
          </a:p>
          <a:p>
            <a:pPr lvl="2" algn="just"/>
            <a:r>
              <a:rPr lang="zh-TW" altLang="en-US" sz="2600" dirty="0"/>
              <a:t>評分方式</a:t>
            </a:r>
            <a:r>
              <a:rPr lang="en-US" altLang="zh-TW" sz="2600" dirty="0"/>
              <a:t>: Macro F1-Score</a:t>
            </a:r>
          </a:p>
          <a:p>
            <a:pPr lvl="2" algn="just"/>
            <a:r>
              <a:rPr lang="zh-TW" altLang="en-US" sz="2600" dirty="0"/>
              <a:t>權重</a:t>
            </a:r>
            <a:r>
              <a:rPr lang="en-US" altLang="zh-TW" sz="2600" dirty="0"/>
              <a:t>:</a:t>
            </a:r>
            <a:r>
              <a:rPr lang="zh-TW" altLang="en-US" sz="2600" dirty="0"/>
              <a:t> </a:t>
            </a:r>
            <a:r>
              <a:rPr lang="en-US" altLang="zh-TW" sz="2600" dirty="0"/>
              <a:t>0.4</a:t>
            </a:r>
          </a:p>
          <a:p>
            <a:pPr lvl="2" algn="just"/>
            <a:r>
              <a:rPr lang="zh-TW" altLang="en-US" sz="2600" dirty="0"/>
              <a:t>屬於</a:t>
            </a:r>
            <a:r>
              <a:rPr lang="en-US" altLang="zh-TW" sz="2600" dirty="0"/>
              <a:t>: </a:t>
            </a:r>
            <a:r>
              <a:rPr lang="zh-TW" altLang="en-US" sz="2600" dirty="0"/>
              <a:t>多分類</a:t>
            </a:r>
            <a:endParaRPr lang="en-US" altLang="zh-TW" sz="2600" dirty="0"/>
          </a:p>
          <a:p>
            <a:pPr marL="914400" lvl="2" indent="0" algn="just">
              <a:buNone/>
            </a:pPr>
            <a:endParaRPr lang="en-US" altLang="zh-TW" sz="26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A00BD8F-3069-56C2-9296-8E29272D566D}"/>
              </a:ext>
            </a:extLst>
          </p:cNvPr>
          <p:cNvSpPr txBox="1"/>
          <p:nvPr/>
        </p:nvSpPr>
        <p:spPr>
          <a:xfrm>
            <a:off x="4531008" y="1878856"/>
            <a:ext cx="359442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TW" altLang="en-US" sz="2600" dirty="0"/>
              <a:t>任務二</a:t>
            </a:r>
            <a:r>
              <a:rPr lang="en-US" altLang="zh-TW" sz="2600" dirty="0"/>
              <a:t>:</a:t>
            </a:r>
            <a:r>
              <a:rPr lang="zh-TW" altLang="en-US" sz="2600" dirty="0"/>
              <a:t>落點預測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zh-TW" altLang="en-US" sz="2600" dirty="0"/>
              <a:t>參數</a:t>
            </a:r>
            <a:r>
              <a:rPr lang="en-US" altLang="zh-TW" sz="2600" dirty="0"/>
              <a:t>: </a:t>
            </a:r>
            <a:r>
              <a:rPr lang="en-US" altLang="zh-TW" sz="2600" dirty="0" err="1"/>
              <a:t>pointId</a:t>
            </a:r>
            <a:endParaRPr lang="en-US" altLang="zh-TW" sz="26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zh-TW" altLang="en-US" sz="2600" dirty="0"/>
              <a:t>目的</a:t>
            </a:r>
            <a:r>
              <a:rPr lang="en-US" altLang="zh-TW" sz="2600" dirty="0"/>
              <a:t>: </a:t>
            </a:r>
            <a:r>
              <a:rPr lang="zh-TW" altLang="en-US" sz="2600" dirty="0"/>
              <a:t>預測下一拍球落在球桌九宮格區域中的哪一格</a:t>
            </a:r>
            <a:endParaRPr lang="en-US" altLang="zh-TW" sz="26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zh-TW" altLang="en-US" sz="2600" dirty="0"/>
              <a:t>評分方式</a:t>
            </a:r>
            <a:r>
              <a:rPr lang="en-US" altLang="zh-TW" sz="2600" dirty="0"/>
              <a:t>: Macro F1-Score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zh-TW" altLang="en-US" sz="2600" dirty="0"/>
              <a:t>權重</a:t>
            </a:r>
            <a:r>
              <a:rPr lang="en-US" altLang="zh-TW" sz="2600" dirty="0"/>
              <a:t>: 0.4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zh-TW" altLang="en-US" sz="2600" dirty="0"/>
              <a:t>屬於</a:t>
            </a:r>
            <a:r>
              <a:rPr lang="en-US" altLang="zh-TW" sz="2600" dirty="0"/>
              <a:t>: </a:t>
            </a:r>
            <a:r>
              <a:rPr lang="zh-TW" altLang="en-US" sz="2600" dirty="0"/>
              <a:t>多分類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E269E5C-CE5C-0C6B-EA02-E99B59D1AE3E}"/>
              </a:ext>
            </a:extLst>
          </p:cNvPr>
          <p:cNvSpPr txBox="1"/>
          <p:nvPr/>
        </p:nvSpPr>
        <p:spPr>
          <a:xfrm>
            <a:off x="8125428" y="1888552"/>
            <a:ext cx="386594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TW" altLang="en-US" sz="2600" dirty="0"/>
              <a:t>任務三</a:t>
            </a:r>
            <a:r>
              <a:rPr lang="en-US" altLang="zh-TW" sz="2600" dirty="0"/>
              <a:t>:</a:t>
            </a:r>
            <a:r>
              <a:rPr lang="zh-TW" altLang="en-US" sz="2600" dirty="0"/>
              <a:t>回合勝負預測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zh-TW" altLang="en-US" sz="2600" dirty="0"/>
              <a:t>參數</a:t>
            </a:r>
            <a:r>
              <a:rPr lang="en-US" altLang="zh-TW" sz="2600" dirty="0"/>
              <a:t>: </a:t>
            </a:r>
            <a:r>
              <a:rPr lang="en-US" altLang="zh-TW" sz="2600" dirty="0" err="1"/>
              <a:t>serverGetPoint</a:t>
            </a:r>
            <a:endParaRPr lang="en-US" altLang="zh-TW" sz="26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zh-TW" altLang="en-US" sz="2600" dirty="0"/>
              <a:t>目的</a:t>
            </a:r>
            <a:r>
              <a:rPr lang="en-US" altLang="zh-TW" sz="2600" dirty="0"/>
              <a:t>:</a:t>
            </a:r>
            <a:r>
              <a:rPr lang="zh-TW" altLang="en-US" sz="2600" dirty="0"/>
              <a:t>根據該回合已發生的擊球序列</a:t>
            </a:r>
            <a:r>
              <a:rPr lang="zh-TW" altLang="en-US" sz="2600" dirty="0">
                <a:latin typeface="Poiret One" panose="00000500000000000000" pitchFamily="2" charset="0"/>
              </a:rPr>
              <a:t>，預測發球者是否得分</a:t>
            </a:r>
            <a:r>
              <a:rPr lang="en-US" altLang="zh-TW" sz="2600" dirty="0">
                <a:latin typeface="Poiret One" panose="00000500000000000000" pitchFamily="2" charset="0"/>
              </a:rPr>
              <a:t>(</a:t>
            </a:r>
            <a:r>
              <a:rPr lang="zh-TW" altLang="en-US" sz="2600" dirty="0">
                <a:latin typeface="Poiret One" panose="00000500000000000000" pitchFamily="2" charset="0"/>
              </a:rPr>
              <a:t>需輸出機率</a:t>
            </a:r>
            <a:r>
              <a:rPr lang="en-US" altLang="zh-TW" sz="2600" dirty="0">
                <a:latin typeface="Poiret One" panose="00000500000000000000" pitchFamily="2" charset="0"/>
              </a:rPr>
              <a:t>)</a:t>
            </a:r>
            <a:endParaRPr lang="en-US" altLang="zh-TW" sz="26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zh-TW" altLang="en-US" sz="2600" dirty="0"/>
              <a:t>評分方式</a:t>
            </a:r>
            <a:r>
              <a:rPr lang="en-US" altLang="zh-TW" sz="2600" dirty="0"/>
              <a:t>: AUC-ROC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zh-TW" altLang="en-US" sz="2600" dirty="0"/>
              <a:t>權重</a:t>
            </a:r>
            <a:r>
              <a:rPr lang="en-US" altLang="zh-TW" sz="2600" dirty="0"/>
              <a:t>: 0.2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zh-TW" altLang="en-US" sz="2600" dirty="0"/>
              <a:t>屬於</a:t>
            </a:r>
            <a:r>
              <a:rPr lang="en-US" altLang="zh-TW" sz="2600" dirty="0"/>
              <a:t>: </a:t>
            </a:r>
            <a:r>
              <a:rPr lang="zh-TW" altLang="en-US" sz="2600" dirty="0"/>
              <a:t>二分類</a:t>
            </a:r>
          </a:p>
        </p:txBody>
      </p:sp>
    </p:spTree>
    <p:extLst>
      <p:ext uri="{BB962C8B-B14F-4D97-AF65-F5344CB8AC3E}">
        <p14:creationId xmlns:p14="http://schemas.microsoft.com/office/powerpoint/2010/main" val="387529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3DC365-8F13-BAC4-B307-4700F6CFE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489" y="365125"/>
            <a:ext cx="10515600" cy="1325563"/>
          </a:xfrm>
        </p:spPr>
        <p:txBody>
          <a:bodyPr/>
          <a:lstStyle/>
          <a:p>
            <a:r>
              <a:rPr lang="zh-TW" altLang="en-US" dirty="0"/>
              <a:t>資料集特徵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F4EEB7-E35D-6D2C-1DC7-596ADC3B1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8774"/>
            <a:ext cx="10515600" cy="4351338"/>
          </a:xfrm>
        </p:spPr>
        <p:txBody>
          <a:bodyPr/>
          <a:lstStyle/>
          <a:p>
            <a:pPr algn="just"/>
            <a:r>
              <a:rPr lang="zh-TW" altLang="en-US" dirty="0">
                <a:latin typeface="+mj-ea"/>
                <a:ea typeface="+mj-ea"/>
              </a:rPr>
              <a:t>編號類</a:t>
            </a:r>
            <a:r>
              <a:rPr lang="en-US" altLang="zh-TW" dirty="0">
                <a:latin typeface="+mj-ea"/>
                <a:ea typeface="+mj-ea"/>
              </a:rPr>
              <a:t>: </a:t>
            </a:r>
            <a:r>
              <a:rPr lang="en-US" altLang="zh-TW" dirty="0" err="1">
                <a:solidFill>
                  <a:srgbClr val="1A1A2E"/>
                </a:solidFill>
                <a:latin typeface="+mj-ea"/>
                <a:ea typeface="+mj-ea"/>
                <a:cs typeface="Calibri" pitchFamily="34" charset="-120"/>
              </a:rPr>
              <a:t>每分編號</a:t>
            </a:r>
            <a:r>
              <a:rPr lang="en-US" altLang="zh-TW" dirty="0">
                <a:solidFill>
                  <a:srgbClr val="1A1A2E"/>
                </a:solidFill>
                <a:latin typeface="+mj-ea"/>
                <a:ea typeface="+mj-ea"/>
                <a:cs typeface="Calibri" pitchFamily="34" charset="-120"/>
              </a:rPr>
              <a:t>(</a:t>
            </a:r>
            <a:r>
              <a:rPr lang="en-US" altLang="zh-TW" dirty="0" err="1">
                <a:solidFill>
                  <a:srgbClr val="1A1A2E"/>
                </a:solidFill>
                <a:latin typeface="+mj-ea"/>
                <a:ea typeface="+mj-ea"/>
                <a:cs typeface="Calibri" pitchFamily="34" charset="-120"/>
              </a:rPr>
              <a:t>全場</a:t>
            </a:r>
            <a:r>
              <a:rPr lang="en-US" altLang="zh-TW" dirty="0">
                <a:solidFill>
                  <a:srgbClr val="1A1A2E"/>
                </a:solidFill>
                <a:latin typeface="+mj-ea"/>
                <a:ea typeface="+mj-ea"/>
                <a:cs typeface="Calibri" pitchFamily="34" charset="-120"/>
              </a:rPr>
              <a:t>/</a:t>
            </a:r>
            <a:r>
              <a:rPr lang="en-US" altLang="zh-TW" dirty="0" err="1">
                <a:solidFill>
                  <a:srgbClr val="1A1A2E"/>
                </a:solidFill>
                <a:latin typeface="+mj-ea"/>
                <a:ea typeface="+mj-ea"/>
                <a:cs typeface="Calibri" pitchFamily="34" charset="-120"/>
              </a:rPr>
              <a:t>單局</a:t>
            </a:r>
            <a:r>
              <a:rPr lang="en-US" altLang="zh-TW" dirty="0">
                <a:solidFill>
                  <a:srgbClr val="1A1A2E"/>
                </a:solidFill>
                <a:latin typeface="+mj-ea"/>
                <a:ea typeface="+mj-ea"/>
                <a:cs typeface="Calibri" pitchFamily="34" charset="-120"/>
              </a:rPr>
              <a:t>)、</a:t>
            </a:r>
            <a:r>
              <a:rPr lang="en-US" altLang="zh-TW" dirty="0" err="1">
                <a:solidFill>
                  <a:srgbClr val="1A1A2E"/>
                </a:solidFill>
                <a:latin typeface="+mj-ea"/>
                <a:ea typeface="+mj-ea"/>
                <a:cs typeface="Calibri" pitchFamily="34" charset="-120"/>
              </a:rPr>
              <a:t>場次編號、局數編號、拍次編號、選手</a:t>
            </a:r>
            <a:r>
              <a:rPr lang="en-US" altLang="zh-TW" dirty="0">
                <a:solidFill>
                  <a:srgbClr val="1A1A2E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zh-TW" dirty="0">
                <a:solidFill>
                  <a:srgbClr val="1A1A2E"/>
                </a:solidFill>
                <a:ea typeface="+mj-ea"/>
                <a:cs typeface="Calibri" pitchFamily="34" charset="-120"/>
              </a:rPr>
              <a:t>ID</a:t>
            </a:r>
            <a:endParaRPr lang="en-US" altLang="zh-TW" dirty="0">
              <a:ea typeface="+mj-ea"/>
            </a:endParaRPr>
          </a:p>
          <a:p>
            <a:pPr algn="just"/>
            <a:r>
              <a:rPr lang="zh-TW" altLang="en-US" dirty="0">
                <a:latin typeface="+mj-ea"/>
                <a:ea typeface="+mj-ea"/>
              </a:rPr>
              <a:t>比賽狀態</a:t>
            </a:r>
            <a:r>
              <a:rPr lang="en-US" altLang="zh-TW" dirty="0">
                <a:latin typeface="+mj-ea"/>
                <a:ea typeface="+mj-ea"/>
              </a:rPr>
              <a:t>: </a:t>
            </a:r>
            <a:r>
              <a:rPr lang="en-US" altLang="zh-TW" dirty="0" err="1">
                <a:solidFill>
                  <a:srgbClr val="1A1A2E"/>
                </a:solidFill>
                <a:latin typeface="+mj-ea"/>
                <a:ea typeface="+mj-ea"/>
                <a:cs typeface="Calibri" pitchFamily="34" charset="-120"/>
              </a:rPr>
              <a:t>主角得分、對手得分、發球者是否得分</a:t>
            </a:r>
            <a:endParaRPr lang="en-US" altLang="zh-TW" dirty="0">
              <a:latin typeface="+mj-ea"/>
              <a:ea typeface="+mj-ea"/>
            </a:endParaRPr>
          </a:p>
          <a:p>
            <a:pPr algn="just"/>
            <a:r>
              <a:rPr lang="zh-TW" altLang="en-US" dirty="0">
                <a:latin typeface="+mj-ea"/>
                <a:ea typeface="+mj-ea"/>
              </a:rPr>
              <a:t>擊球資訊</a:t>
            </a:r>
            <a:r>
              <a:rPr lang="en-US" altLang="zh-TW" dirty="0">
                <a:latin typeface="+mj-ea"/>
                <a:ea typeface="+mj-ea"/>
              </a:rPr>
              <a:t>: </a:t>
            </a:r>
            <a:r>
              <a:rPr lang="en-US" altLang="zh-TW" dirty="0" err="1">
                <a:solidFill>
                  <a:srgbClr val="1A1A2E"/>
                </a:solidFill>
                <a:latin typeface="+mj-ea"/>
                <a:ea typeface="+mj-ea"/>
                <a:cs typeface="Calibri" pitchFamily="34" charset="-120"/>
              </a:rPr>
              <a:t>拍數類型</a:t>
            </a:r>
            <a:r>
              <a:rPr lang="en-US" altLang="zh-TW" dirty="0">
                <a:solidFill>
                  <a:srgbClr val="1A1A2E"/>
                </a:solidFill>
                <a:latin typeface="+mj-ea"/>
                <a:ea typeface="+mj-ea"/>
                <a:cs typeface="Calibri" pitchFamily="34" charset="-120"/>
              </a:rPr>
              <a:t>(</a:t>
            </a:r>
            <a:r>
              <a:rPr lang="en-US" altLang="zh-TW" dirty="0" err="1">
                <a:solidFill>
                  <a:srgbClr val="1A1A2E"/>
                </a:solidFill>
                <a:latin typeface="+mj-ea"/>
                <a:ea typeface="+mj-ea"/>
                <a:cs typeface="Calibri" pitchFamily="34" charset="-120"/>
              </a:rPr>
              <a:t>發球</a:t>
            </a:r>
            <a:r>
              <a:rPr lang="en-US" altLang="zh-TW" dirty="0">
                <a:solidFill>
                  <a:srgbClr val="1A1A2E"/>
                </a:solidFill>
                <a:latin typeface="+mj-ea"/>
                <a:ea typeface="+mj-ea"/>
                <a:cs typeface="Calibri" pitchFamily="34" charset="-120"/>
              </a:rPr>
              <a:t>/</a:t>
            </a:r>
            <a:r>
              <a:rPr lang="en-US" altLang="zh-TW" dirty="0" err="1">
                <a:solidFill>
                  <a:srgbClr val="1A1A2E"/>
                </a:solidFill>
                <a:latin typeface="+mj-ea"/>
                <a:ea typeface="+mj-ea"/>
                <a:cs typeface="Calibri" pitchFamily="34" charset="-120"/>
              </a:rPr>
              <a:t>接發</a:t>
            </a:r>
            <a:r>
              <a:rPr lang="en-US" altLang="zh-TW" dirty="0">
                <a:solidFill>
                  <a:srgbClr val="1A1A2E"/>
                </a:solidFill>
                <a:latin typeface="+mj-ea"/>
                <a:ea typeface="+mj-ea"/>
                <a:cs typeface="Calibri" pitchFamily="34" charset="-120"/>
              </a:rPr>
              <a:t>/</a:t>
            </a:r>
            <a:r>
              <a:rPr lang="en-US" altLang="zh-TW" dirty="0" err="1">
                <a:solidFill>
                  <a:srgbClr val="1A1A2E"/>
                </a:solidFill>
                <a:latin typeface="+mj-ea"/>
                <a:ea typeface="+mj-ea"/>
                <a:cs typeface="Calibri" pitchFamily="34" charset="-120"/>
              </a:rPr>
              <a:t>第三球後</a:t>
            </a:r>
            <a:r>
              <a:rPr lang="en-US" altLang="zh-TW" dirty="0">
                <a:solidFill>
                  <a:srgbClr val="1A1A2E"/>
                </a:solidFill>
                <a:latin typeface="+mj-ea"/>
                <a:ea typeface="+mj-ea"/>
                <a:cs typeface="Calibri" pitchFamily="34" charset="-120"/>
              </a:rPr>
              <a:t>)、</a:t>
            </a:r>
            <a:r>
              <a:rPr lang="en-US" altLang="zh-TW" dirty="0" err="1">
                <a:solidFill>
                  <a:srgbClr val="1A1A2E"/>
                </a:solidFill>
                <a:latin typeface="+mj-ea"/>
                <a:ea typeface="+mj-ea"/>
                <a:cs typeface="Calibri" pitchFamily="34" charset="-120"/>
              </a:rPr>
              <a:t>正反拍、擊球速度</a:t>
            </a:r>
            <a:endParaRPr lang="en-US" altLang="zh-TW" dirty="0">
              <a:latin typeface="+mj-ea"/>
              <a:ea typeface="+mj-ea"/>
            </a:endParaRPr>
          </a:p>
          <a:p>
            <a:pPr algn="just"/>
            <a:r>
              <a:rPr lang="zh-TW" altLang="en-US" dirty="0">
                <a:latin typeface="+mj-ea"/>
                <a:ea typeface="+mj-ea"/>
              </a:rPr>
              <a:t>球路特徵</a:t>
            </a:r>
            <a:r>
              <a:rPr lang="en-US" altLang="zh-TW" dirty="0">
                <a:latin typeface="+mj-ea"/>
                <a:ea typeface="+mj-ea"/>
              </a:rPr>
              <a:t>:</a:t>
            </a:r>
            <a:r>
              <a:rPr lang="zh-TW" altLang="en-US" dirty="0">
                <a:latin typeface="+mj-ea"/>
                <a:ea typeface="+mj-ea"/>
              </a:rPr>
              <a:t> </a:t>
            </a:r>
            <a:r>
              <a:rPr lang="en-US" altLang="zh-TW" dirty="0" err="1">
                <a:solidFill>
                  <a:srgbClr val="1A1A2E"/>
                </a:solidFill>
                <a:latin typeface="+mj-ea"/>
                <a:ea typeface="+mj-ea"/>
                <a:cs typeface="Calibri" pitchFamily="34" charset="-120"/>
              </a:rPr>
              <a:t>旋轉狀態、下一球落點、球種</a:t>
            </a:r>
            <a:endParaRPr lang="en-US" altLang="zh-TW" dirty="0">
              <a:latin typeface="+mj-ea"/>
              <a:ea typeface="+mj-ea"/>
            </a:endParaRPr>
          </a:p>
          <a:p>
            <a:pPr algn="just"/>
            <a:r>
              <a:rPr lang="zh-TW" altLang="en-US" dirty="0">
                <a:latin typeface="+mj-ea"/>
                <a:ea typeface="+mj-ea"/>
              </a:rPr>
              <a:t>其他</a:t>
            </a:r>
            <a:r>
              <a:rPr lang="en-US" altLang="zh-TW" dirty="0">
                <a:latin typeface="+mj-ea"/>
                <a:ea typeface="+mj-ea"/>
              </a:rPr>
              <a:t>: </a:t>
            </a:r>
            <a:r>
              <a:rPr lang="en-US" altLang="zh-TW" dirty="0" err="1">
                <a:solidFill>
                  <a:srgbClr val="1A1A2E"/>
                </a:solidFill>
                <a:latin typeface="+mj-ea"/>
                <a:ea typeface="+mj-ea"/>
                <a:cs typeface="Calibri" pitchFamily="34" charset="-120"/>
              </a:rPr>
              <a:t>選手性別、初始站位</a:t>
            </a:r>
            <a:endParaRPr lang="en-US" altLang="zh-TW" dirty="0">
              <a:latin typeface="+mj-ea"/>
              <a:ea typeface="+mj-ea"/>
            </a:endParaRPr>
          </a:p>
          <a:p>
            <a:pPr algn="just"/>
            <a:endParaRPr lang="en-US" altLang="zh-TW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92316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0187C9-0FA7-5011-7C77-5DE873F38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36" y="307252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+mn-lt"/>
              </a:rPr>
              <a:t>Baseline </a:t>
            </a:r>
            <a:r>
              <a:rPr lang="zh-TW" altLang="en-US" dirty="0">
                <a:latin typeface="+mn-lt"/>
              </a:rPr>
              <a:t>架構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59D648-558C-5501-7DD8-72BD7829D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ea typeface="+mj-ea"/>
              </a:rPr>
              <a:t>模型架構</a:t>
            </a:r>
            <a:r>
              <a:rPr lang="en-US" altLang="zh-TW" dirty="0">
                <a:ea typeface="+mj-ea"/>
              </a:rPr>
              <a:t>: </a:t>
            </a:r>
            <a:r>
              <a:rPr lang="zh-TW" altLang="en-US" dirty="0">
                <a:ea typeface="+mj-ea"/>
              </a:rPr>
              <a:t>使用</a:t>
            </a:r>
            <a:r>
              <a:rPr lang="en-US" altLang="zh-TW" dirty="0">
                <a:ea typeface="+mj-ea"/>
              </a:rPr>
              <a:t>Multi-Task LSTM</a:t>
            </a:r>
          </a:p>
          <a:p>
            <a:r>
              <a:rPr lang="zh-TW" altLang="en-US" dirty="0">
                <a:ea typeface="+mj-ea"/>
              </a:rPr>
              <a:t>資料前處理</a:t>
            </a:r>
            <a:r>
              <a:rPr lang="en-US" altLang="zh-TW" dirty="0">
                <a:ea typeface="+mj-ea"/>
              </a:rPr>
              <a:t>: </a:t>
            </a:r>
            <a:r>
              <a:rPr lang="zh-TW" altLang="en-US" dirty="0">
                <a:ea typeface="+mj-ea"/>
              </a:rPr>
              <a:t>序列補零對齊</a:t>
            </a:r>
            <a:r>
              <a:rPr lang="en-US" altLang="zh-TW" dirty="0">
                <a:ea typeface="+mj-ea"/>
              </a:rPr>
              <a:t>(</a:t>
            </a:r>
            <a:r>
              <a:rPr lang="en-US" altLang="zh-TW" dirty="0" err="1">
                <a:solidFill>
                  <a:srgbClr val="1A1A2E"/>
                </a:solidFill>
                <a:ea typeface="+mj-ea"/>
                <a:cs typeface="Calibri" pitchFamily="34" charset="-120"/>
              </a:rPr>
              <a:t>最大擊球拍數限制為</a:t>
            </a:r>
            <a:r>
              <a:rPr lang="en-US" altLang="zh-TW" dirty="0">
                <a:solidFill>
                  <a:srgbClr val="1A1A2E"/>
                </a:solidFill>
                <a:ea typeface="+mj-ea"/>
                <a:cs typeface="Calibri" pitchFamily="34" charset="-120"/>
              </a:rPr>
              <a:t> 40 拍</a:t>
            </a:r>
            <a:r>
              <a:rPr lang="en-US" altLang="zh-TW" dirty="0">
                <a:ea typeface="+mj-ea"/>
              </a:rPr>
              <a:t>)</a:t>
            </a:r>
          </a:p>
          <a:p>
            <a:r>
              <a:rPr lang="en-US" altLang="zh-TW" dirty="0">
                <a:ea typeface="+mj-ea"/>
              </a:rPr>
              <a:t>Linear Head: </a:t>
            </a:r>
            <a:r>
              <a:rPr lang="en-US" altLang="zh-TW" dirty="0">
                <a:solidFill>
                  <a:srgbClr val="1A1A2E"/>
                </a:solidFill>
                <a:ea typeface="+mj-ea"/>
                <a:cs typeface="Calibri" pitchFamily="34" charset="-120"/>
              </a:rPr>
              <a:t>將 LSTM </a:t>
            </a:r>
            <a:r>
              <a:rPr lang="en-US" altLang="zh-TW" dirty="0" err="1">
                <a:solidFill>
                  <a:srgbClr val="1A1A2E"/>
                </a:solidFill>
                <a:ea typeface="+mj-ea"/>
                <a:cs typeface="Calibri" pitchFamily="34" charset="-120"/>
              </a:rPr>
              <a:t>輸出特徵轉換為分類</a:t>
            </a:r>
            <a:r>
              <a:rPr lang="en-US" altLang="zh-TW" dirty="0">
                <a:solidFill>
                  <a:srgbClr val="1A1A2E"/>
                </a:solidFill>
                <a:ea typeface="+mj-ea"/>
                <a:cs typeface="Calibri" pitchFamily="34" charset="-120"/>
              </a:rPr>
              <a:t> Logits</a:t>
            </a:r>
            <a:endParaRPr lang="en-US" altLang="zh-TW" dirty="0">
              <a:ea typeface="+mj-ea"/>
            </a:endParaRPr>
          </a:p>
          <a:p>
            <a:r>
              <a:rPr lang="zh-TW" altLang="en-US" dirty="0">
                <a:ea typeface="+mj-ea"/>
              </a:rPr>
              <a:t>損失函數</a:t>
            </a:r>
            <a:r>
              <a:rPr lang="en-US" altLang="zh-TW" dirty="0">
                <a:ea typeface="+mj-ea"/>
              </a:rPr>
              <a:t>: </a:t>
            </a:r>
          </a:p>
          <a:p>
            <a:pPr lvl="1"/>
            <a:r>
              <a:rPr lang="zh-TW" altLang="en-US" sz="2800" dirty="0">
                <a:ea typeface="+mj-ea"/>
              </a:rPr>
              <a:t>球種預測</a:t>
            </a:r>
            <a:r>
              <a:rPr lang="en-US" altLang="zh-TW" sz="2800" dirty="0">
                <a:ea typeface="+mj-ea"/>
              </a:rPr>
              <a:t>:</a:t>
            </a:r>
            <a:r>
              <a:rPr lang="zh-TW" altLang="en-US" sz="2800" dirty="0">
                <a:ea typeface="+mj-ea"/>
              </a:rPr>
              <a:t> </a:t>
            </a:r>
            <a:r>
              <a:rPr lang="en-US" altLang="zh-TW" sz="2800" dirty="0" err="1">
                <a:ea typeface="+mj-ea"/>
              </a:rPr>
              <a:t>CrossEntropy</a:t>
            </a:r>
            <a:r>
              <a:rPr lang="en-US" altLang="zh-TW" sz="2800" dirty="0">
                <a:ea typeface="+mj-ea"/>
              </a:rPr>
              <a:t> Loss(</a:t>
            </a:r>
            <a:r>
              <a:rPr lang="zh-TW" altLang="en-US" sz="2800" dirty="0">
                <a:ea typeface="+mj-ea"/>
              </a:rPr>
              <a:t>多分類</a:t>
            </a:r>
            <a:r>
              <a:rPr lang="en-US" altLang="zh-TW" sz="2800" dirty="0">
                <a:ea typeface="+mj-ea"/>
              </a:rPr>
              <a:t>)</a:t>
            </a:r>
          </a:p>
          <a:p>
            <a:pPr lvl="1"/>
            <a:r>
              <a:rPr lang="zh-TW" altLang="en-US" sz="2800" dirty="0">
                <a:ea typeface="+mj-ea"/>
              </a:rPr>
              <a:t>落點預測</a:t>
            </a:r>
            <a:r>
              <a:rPr lang="en-US" altLang="zh-TW" sz="2800" dirty="0">
                <a:ea typeface="+mj-ea"/>
              </a:rPr>
              <a:t>: </a:t>
            </a:r>
            <a:r>
              <a:rPr lang="zh-TW" altLang="en-US" sz="2800" dirty="0">
                <a:ea typeface="+mj-ea"/>
              </a:rPr>
              <a:t> </a:t>
            </a:r>
            <a:r>
              <a:rPr lang="en-US" altLang="zh-TW" sz="2800" dirty="0" err="1">
                <a:ea typeface="+mj-ea"/>
              </a:rPr>
              <a:t>CrossEntropy</a:t>
            </a:r>
            <a:r>
              <a:rPr lang="en-US" altLang="zh-TW" sz="2800" dirty="0">
                <a:ea typeface="+mj-ea"/>
              </a:rPr>
              <a:t> Loss(</a:t>
            </a:r>
            <a:r>
              <a:rPr lang="zh-TW" altLang="en-US" sz="2800" dirty="0">
                <a:ea typeface="+mj-ea"/>
              </a:rPr>
              <a:t>多分類</a:t>
            </a:r>
            <a:r>
              <a:rPr lang="en-US" altLang="zh-TW" sz="2800" dirty="0">
                <a:ea typeface="+mj-ea"/>
              </a:rPr>
              <a:t>)</a:t>
            </a:r>
          </a:p>
          <a:p>
            <a:pPr lvl="1"/>
            <a:r>
              <a:rPr lang="zh-TW" altLang="en-US" sz="2800" dirty="0">
                <a:ea typeface="+mj-ea"/>
              </a:rPr>
              <a:t>勝負預測</a:t>
            </a:r>
            <a:r>
              <a:rPr lang="en-US" altLang="zh-TW" sz="2800" dirty="0">
                <a:ea typeface="+mj-ea"/>
              </a:rPr>
              <a:t>:</a:t>
            </a:r>
            <a:r>
              <a:rPr lang="zh-TW" altLang="en-US" sz="2800" dirty="0">
                <a:ea typeface="+mj-ea"/>
              </a:rPr>
              <a:t> </a:t>
            </a:r>
            <a:r>
              <a:rPr lang="en-US" altLang="zh-TW" sz="2800" dirty="0" err="1">
                <a:ea typeface="+mj-ea"/>
              </a:rPr>
              <a:t>BCEWithLogitsLoss</a:t>
            </a:r>
            <a:r>
              <a:rPr lang="en-US" altLang="zh-TW" sz="2800" dirty="0">
                <a:ea typeface="+mj-ea"/>
              </a:rPr>
              <a:t>(</a:t>
            </a:r>
            <a:r>
              <a:rPr lang="zh-TW" altLang="en-US" sz="2800" dirty="0">
                <a:ea typeface="+mj-ea"/>
              </a:rPr>
              <a:t>二分類</a:t>
            </a:r>
            <a:r>
              <a:rPr lang="en-US" altLang="zh-TW" sz="2800" dirty="0">
                <a:ea typeface="+mj-ea"/>
              </a:rPr>
              <a:t>)</a:t>
            </a:r>
          </a:p>
          <a:p>
            <a:pPr lvl="1"/>
            <a:r>
              <a:rPr lang="en-US" altLang="zh-TW" sz="2800" dirty="0" err="1">
                <a:solidFill>
                  <a:srgbClr val="1A1A2E"/>
                </a:solidFill>
                <a:ea typeface="+mj-ea"/>
                <a:cs typeface="Calibri" pitchFamily="34" charset="-120"/>
              </a:rPr>
              <a:t>總損失</a:t>
            </a:r>
            <a:r>
              <a:rPr lang="en-US" altLang="zh-TW" sz="2800" dirty="0">
                <a:solidFill>
                  <a:srgbClr val="1A1A2E"/>
                </a:solidFill>
                <a:ea typeface="+mj-ea"/>
                <a:cs typeface="Calibri" pitchFamily="34" charset="-120"/>
              </a:rPr>
              <a:t> = 0.4 × F1_球種 + 0.4 × F1_落點 + 0.2 × </a:t>
            </a:r>
            <a:r>
              <a:rPr lang="en-US" altLang="zh-TW" sz="2800" dirty="0" err="1">
                <a:solidFill>
                  <a:srgbClr val="1A1A2E"/>
                </a:solidFill>
                <a:ea typeface="+mj-ea"/>
                <a:cs typeface="Calibri" pitchFamily="34" charset="-120"/>
              </a:rPr>
              <a:t>AUC_勝負</a:t>
            </a:r>
            <a:endParaRPr lang="en-US" altLang="zh-TW" sz="2800" dirty="0">
              <a:ea typeface="+mj-ea"/>
            </a:endParaRPr>
          </a:p>
          <a:p>
            <a:pPr marL="457200" lvl="1" indent="0">
              <a:buNone/>
            </a:pPr>
            <a:endParaRPr lang="zh-TW" altLang="en-US" sz="2800" dirty="0"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79879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8BF45E-9252-E665-E7E6-1589C2F23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278" y="439839"/>
            <a:ext cx="3063231" cy="1325563"/>
          </a:xfrm>
        </p:spPr>
        <p:txBody>
          <a:bodyPr/>
          <a:lstStyle/>
          <a:p>
            <a:r>
              <a:rPr lang="zh-TW" altLang="en-US" dirty="0">
                <a:latin typeface="+mn-lt"/>
              </a:rPr>
              <a:t>資料</a:t>
            </a:r>
            <a:r>
              <a:rPr lang="en-US" altLang="zh-TW" dirty="0">
                <a:latin typeface="+mn-lt"/>
              </a:rPr>
              <a:t>EDA</a:t>
            </a:r>
            <a:r>
              <a:rPr lang="zh-TW" altLang="en-US" dirty="0">
                <a:latin typeface="+mn-lt"/>
              </a:rPr>
              <a:t>的結果</a:t>
            </a:r>
          </a:p>
        </p:txBody>
      </p:sp>
      <p:pic>
        <p:nvPicPr>
          <p:cNvPr id="4" name="內容版面配置區 4">
            <a:extLst>
              <a:ext uri="{FF2B5EF4-FFF2-40B4-BE49-F238E27FC236}">
                <a16:creationId xmlns:a16="http://schemas.microsoft.com/office/drawing/2014/main" id="{EA3D4302-7BA0-26DE-29F8-CD2C03B8FD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371" y="33277"/>
            <a:ext cx="9099629" cy="682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480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957132-784A-5D2F-D4C3-C365857B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第一次改良</a:t>
            </a:r>
            <a:r>
              <a:rPr lang="en-US" altLang="zh-TW" dirty="0">
                <a:latin typeface="+mn-lt"/>
              </a:rPr>
              <a:t>-</a:t>
            </a:r>
            <a:r>
              <a:rPr lang="zh-TW" altLang="en-US" dirty="0">
                <a:latin typeface="+mn-lt"/>
              </a:rPr>
              <a:t>採用</a:t>
            </a:r>
            <a:r>
              <a:rPr lang="en-US" altLang="zh-TW" dirty="0">
                <a:latin typeface="+mn-lt"/>
              </a:rPr>
              <a:t>Transform 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D55C4A-1D1D-C886-499E-60CBEE968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zh-TW" altLang="en-US" dirty="0"/>
              <a:t>嘗試將</a:t>
            </a:r>
            <a:r>
              <a:rPr lang="en-US" altLang="zh-TW" dirty="0"/>
              <a:t>LSTM</a:t>
            </a:r>
            <a:r>
              <a:rPr lang="zh-TW" altLang="en-US" dirty="0"/>
              <a:t>方法改用 </a:t>
            </a:r>
            <a:r>
              <a:rPr lang="en-US" altLang="zh-TW" dirty="0"/>
              <a:t>Transformer Encoder </a:t>
            </a:r>
            <a:r>
              <a:rPr lang="zh-TW" altLang="en-US" dirty="0"/>
              <a:t>做序列編碼</a:t>
            </a:r>
            <a:endParaRPr lang="en-US" altLang="zh-TW" dirty="0"/>
          </a:p>
          <a:p>
            <a:pPr algn="just"/>
            <a:r>
              <a:rPr lang="zh-TW" altLang="en-US" dirty="0"/>
              <a:t>結果</a:t>
            </a:r>
            <a:r>
              <a:rPr lang="en-US" altLang="zh-TW" dirty="0"/>
              <a:t>: </a:t>
            </a:r>
            <a:r>
              <a:rPr lang="zh-TW" altLang="en-US" dirty="0"/>
              <a:t>效果沒有很好</a:t>
            </a:r>
            <a:endParaRPr lang="en-US" altLang="zh-TW" dirty="0"/>
          </a:p>
          <a:p>
            <a:pPr algn="just"/>
            <a:r>
              <a:rPr lang="zh-TW" altLang="en-US" dirty="0"/>
              <a:t>推測原因</a:t>
            </a:r>
            <a:r>
              <a:rPr lang="en-US" altLang="zh-TW" dirty="0"/>
              <a:t>:</a:t>
            </a:r>
            <a:r>
              <a:rPr lang="zh-TW" altLang="en-US" dirty="0"/>
              <a:t>可能在於每回合大概在</a:t>
            </a:r>
            <a:r>
              <a:rPr lang="en-US" altLang="zh-TW" dirty="0"/>
              <a:t>5 – 40</a:t>
            </a:r>
            <a:r>
              <a:rPr lang="zh-TW" altLang="en-US" dirty="0"/>
              <a:t>拍之間，序列較短，資料量不多，</a:t>
            </a:r>
            <a:r>
              <a:rPr lang="en-US" altLang="zh-TW" dirty="0"/>
              <a:t> Transformer</a:t>
            </a:r>
            <a:r>
              <a:rPr lang="zh-TW" altLang="en-US" dirty="0"/>
              <a:t> 優勢可能沒發揮好</a:t>
            </a:r>
            <a:endParaRPr lang="en-US" altLang="zh-TW" dirty="0"/>
          </a:p>
          <a:p>
            <a:pPr algn="just"/>
            <a:r>
              <a:rPr lang="zh-TW" altLang="en-US" dirty="0"/>
              <a:t>下一步方向</a:t>
            </a:r>
            <a:r>
              <a:rPr lang="en-US" altLang="zh-TW" dirty="0"/>
              <a:t>: </a:t>
            </a:r>
            <a:r>
              <a:rPr lang="zh-TW" altLang="en-US" dirty="0"/>
              <a:t>改用</a:t>
            </a:r>
            <a:r>
              <a:rPr lang="en-US" altLang="zh-TW" dirty="0"/>
              <a:t>GRU</a:t>
            </a:r>
          </a:p>
          <a:p>
            <a:pPr algn="just"/>
            <a:endParaRPr lang="en-US" altLang="zh-TW" dirty="0"/>
          </a:p>
          <a:p>
            <a:pPr algn="just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38672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9FC2B6-1E6C-0186-5518-AB7EDC26F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878" y="365125"/>
            <a:ext cx="10515600" cy="1325563"/>
          </a:xfrm>
        </p:spPr>
        <p:txBody>
          <a:bodyPr/>
          <a:lstStyle/>
          <a:p>
            <a:r>
              <a:rPr lang="zh-TW" altLang="en-US" dirty="0"/>
              <a:t>第二次改良</a:t>
            </a:r>
            <a:r>
              <a:rPr lang="en-US" altLang="zh-TW" dirty="0"/>
              <a:t>-</a:t>
            </a:r>
            <a:r>
              <a:rPr lang="zh-TW" altLang="en-US" dirty="0"/>
              <a:t>採用雙流</a:t>
            </a:r>
            <a:r>
              <a:rPr lang="en-US" altLang="zh-TW" dirty="0">
                <a:latin typeface="+mn-lt"/>
              </a:rPr>
              <a:t>GRU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3E2D1A-6914-383B-0285-2F76288E4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0218"/>
            <a:ext cx="10515600" cy="4351338"/>
          </a:xfrm>
        </p:spPr>
        <p:txBody>
          <a:bodyPr>
            <a:noAutofit/>
          </a:bodyPr>
          <a:lstStyle/>
          <a:p>
            <a:pPr algn="just"/>
            <a:r>
              <a:rPr lang="zh-TW" altLang="en-US" sz="2600" dirty="0"/>
              <a:t>特徵工程強化</a:t>
            </a:r>
            <a:endParaRPr lang="en-US" altLang="zh-TW" sz="2600" dirty="0"/>
          </a:p>
          <a:p>
            <a:pPr lvl="1" algn="just"/>
            <a:r>
              <a:rPr lang="zh-TW" altLang="en-US" sz="2600" dirty="0"/>
              <a:t>新增情境特徵：分差、得分總和、是否局點、領先狀態，讓模型理解比賽情境，不只是物理軌跡</a:t>
            </a:r>
            <a:endParaRPr lang="en-US" altLang="zh-TW" sz="2600" dirty="0"/>
          </a:p>
          <a:p>
            <a:pPr algn="just"/>
            <a:r>
              <a:rPr lang="zh-TW" altLang="en-US" sz="2600" dirty="0"/>
              <a:t>雙流</a:t>
            </a:r>
            <a:r>
              <a:rPr lang="en-US" altLang="zh-TW" sz="2600" dirty="0"/>
              <a:t>GRU</a:t>
            </a:r>
            <a:r>
              <a:rPr lang="zh-TW" altLang="en-US" sz="2600" dirty="0"/>
              <a:t>設計</a:t>
            </a:r>
            <a:endParaRPr lang="en-US" altLang="zh-TW" sz="2600" dirty="0"/>
          </a:p>
          <a:p>
            <a:pPr lvl="1" algn="just"/>
            <a:r>
              <a:rPr lang="zh-TW" altLang="en-US" sz="2600" dirty="0"/>
              <a:t>特徵解耦成空間與動作兩個部份，分成兩個獨立 </a:t>
            </a:r>
            <a:r>
              <a:rPr lang="en-US" altLang="zh-TW" sz="2600" dirty="0"/>
              <a:t>GRU </a:t>
            </a:r>
            <a:r>
              <a:rPr lang="zh-TW" altLang="en-US" sz="2600" dirty="0"/>
              <a:t>分別萃取，最後融合全局上下文</a:t>
            </a:r>
          </a:p>
          <a:p>
            <a:pPr lvl="1" algn="just"/>
            <a:r>
              <a:rPr lang="zh-TW" altLang="en-US" sz="2600" dirty="0"/>
              <a:t>效果明顯優於單流 </a:t>
            </a:r>
            <a:r>
              <a:rPr lang="en-US" altLang="zh-TW" sz="2600" dirty="0"/>
              <a:t>GRU</a:t>
            </a:r>
          </a:p>
          <a:p>
            <a:pPr algn="just"/>
            <a:r>
              <a:rPr lang="zh-TW" altLang="en-US" sz="2600" dirty="0"/>
              <a:t>關聯式</a:t>
            </a:r>
            <a:r>
              <a:rPr lang="en-US" altLang="zh-TW" sz="2600" dirty="0"/>
              <a:t>Head</a:t>
            </a:r>
            <a:r>
              <a:rPr lang="zh-TW" altLang="en-US" sz="2600" dirty="0"/>
              <a:t>設計</a:t>
            </a:r>
            <a:endParaRPr lang="en-US" altLang="zh-TW" sz="2600" dirty="0"/>
          </a:p>
          <a:p>
            <a:pPr lvl="1" algn="just"/>
            <a:r>
              <a:rPr lang="zh-TW" altLang="en-US" sz="2600" dirty="0"/>
              <a:t>球種 → 落點 → 勝負</a:t>
            </a:r>
            <a:r>
              <a:rPr lang="en-US" altLang="zh-TW" sz="2600" dirty="0"/>
              <a:t>(</a:t>
            </a:r>
            <a:r>
              <a:rPr lang="zh-TW" altLang="en-US" sz="2600" dirty="0"/>
              <a:t>串聯預測</a:t>
            </a:r>
            <a:r>
              <a:rPr lang="en-US" altLang="zh-TW" sz="2600" dirty="0"/>
              <a:t>)</a:t>
            </a:r>
            <a:endParaRPr lang="zh-TW" altLang="en-US" sz="2600" dirty="0"/>
          </a:p>
          <a:p>
            <a:pPr lvl="1" algn="just"/>
            <a:r>
              <a:rPr lang="zh-TW" altLang="en-US" sz="2600" dirty="0"/>
              <a:t>模擬真實打球邏輯：先決定球種再決定落點</a:t>
            </a:r>
          </a:p>
          <a:p>
            <a:pPr lvl="1" algn="just"/>
            <a:r>
              <a:rPr lang="zh-TW" altLang="en-US" sz="2600" dirty="0"/>
              <a:t>加入反比類別權重處理資料不平衡</a:t>
            </a:r>
          </a:p>
          <a:p>
            <a:pPr algn="just"/>
            <a:endParaRPr lang="zh-TW" altLang="en-US" sz="2600" dirty="0"/>
          </a:p>
        </p:txBody>
      </p:sp>
    </p:spTree>
    <p:extLst>
      <p:ext uri="{BB962C8B-B14F-4D97-AF65-F5344CB8AC3E}">
        <p14:creationId xmlns:p14="http://schemas.microsoft.com/office/powerpoint/2010/main" val="1534270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F851CA-51F1-1FCD-8003-B0339CCFE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第三次改良</a:t>
            </a:r>
            <a:r>
              <a:rPr lang="en-US" altLang="zh-TW" dirty="0"/>
              <a:t>-</a:t>
            </a:r>
            <a:r>
              <a:rPr lang="zh-TW" altLang="en-US" dirty="0"/>
              <a:t>特徵精煉</a:t>
            </a:r>
            <a:r>
              <a:rPr lang="en-US" altLang="zh-TW" dirty="0"/>
              <a:t>+</a:t>
            </a:r>
            <a:r>
              <a:rPr lang="zh-TW" altLang="en-US" dirty="0"/>
              <a:t>動態加權融合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995F83-E52A-6FE2-A42E-B54988EB7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7324" cy="4351338"/>
          </a:xfrm>
        </p:spPr>
        <p:txBody>
          <a:bodyPr>
            <a:normAutofit/>
          </a:bodyPr>
          <a:lstStyle/>
          <a:p>
            <a:r>
              <a:rPr lang="zh-TW" altLang="en-US" sz="2400" dirty="0"/>
              <a:t>新增特徵</a:t>
            </a:r>
            <a:endParaRPr lang="en-US" altLang="zh-TW" sz="2400" dirty="0"/>
          </a:p>
          <a:p>
            <a:pPr lvl="1"/>
            <a:r>
              <a:rPr lang="zh-TW" altLang="en-US" dirty="0"/>
              <a:t>空間特徵</a:t>
            </a:r>
            <a:endParaRPr lang="en-US" altLang="zh-TW" dirty="0"/>
          </a:p>
          <a:p>
            <a:pPr lvl="2"/>
            <a:r>
              <a:rPr lang="zh-TW" altLang="en-US" sz="2400" dirty="0"/>
              <a:t>前</a:t>
            </a:r>
            <a:r>
              <a:rPr lang="en-US" altLang="zh-TW" sz="2400" dirty="0"/>
              <a:t>/</a:t>
            </a:r>
            <a:r>
              <a:rPr lang="zh-TW" altLang="en-US" sz="2400" dirty="0"/>
              <a:t>中</a:t>
            </a:r>
            <a:r>
              <a:rPr lang="en-US" altLang="zh-TW" sz="2400" dirty="0"/>
              <a:t>/</a:t>
            </a:r>
            <a:r>
              <a:rPr lang="zh-TW" altLang="en-US" sz="2400" dirty="0"/>
              <a:t>後場區域計算</a:t>
            </a:r>
          </a:p>
          <a:p>
            <a:pPr lvl="2"/>
            <a:r>
              <a:rPr lang="zh-TW" altLang="en-US" sz="2400" dirty="0"/>
              <a:t>是否與上一拍在同側</a:t>
            </a:r>
            <a:endParaRPr lang="en-US" altLang="zh-TW" sz="2400" dirty="0"/>
          </a:p>
          <a:p>
            <a:pPr lvl="1"/>
            <a:r>
              <a:rPr lang="zh-TW" altLang="en-US" dirty="0"/>
              <a:t>關鍵情境</a:t>
            </a:r>
            <a:endParaRPr lang="en-US" altLang="zh-TW" dirty="0"/>
          </a:p>
          <a:p>
            <a:pPr lvl="2"/>
            <a:r>
              <a:rPr lang="zh-TW" altLang="en-US" sz="2400" dirty="0"/>
              <a:t>平分關鍵球、延長賽特徵</a:t>
            </a:r>
            <a:endParaRPr lang="en-US" altLang="zh-TW" sz="2400" dirty="0"/>
          </a:p>
          <a:p>
            <a:pPr lvl="1"/>
            <a:r>
              <a:rPr lang="zh-TW" altLang="en-US" dirty="0"/>
              <a:t>發球局勢</a:t>
            </a:r>
            <a:endParaRPr lang="en-US" altLang="zh-TW" dirty="0"/>
          </a:p>
          <a:p>
            <a:pPr lvl="2"/>
            <a:r>
              <a:rPr lang="zh-TW" altLang="en-US" sz="2400" dirty="0"/>
              <a:t>是否為發球者、是否為第一拍</a:t>
            </a:r>
          </a:p>
          <a:p>
            <a:pPr lvl="2"/>
            <a:r>
              <a:rPr lang="zh-TW" altLang="en-US" sz="2400" dirty="0"/>
              <a:t>局勢切分（前期</a:t>
            </a:r>
            <a:r>
              <a:rPr lang="en-US" altLang="zh-TW" sz="2400" dirty="0"/>
              <a:t>/</a:t>
            </a:r>
            <a:r>
              <a:rPr lang="zh-TW" altLang="en-US" sz="2400" dirty="0"/>
              <a:t>中期</a:t>
            </a:r>
            <a:r>
              <a:rPr lang="en-US" altLang="zh-TW" sz="2400" dirty="0"/>
              <a:t>/</a:t>
            </a:r>
            <a:r>
              <a:rPr lang="zh-TW" altLang="en-US" sz="2400" dirty="0"/>
              <a:t>關鍵分）</a:t>
            </a:r>
          </a:p>
          <a:p>
            <a:pPr marL="914400" lvl="2" indent="0">
              <a:buNone/>
            </a:pPr>
            <a:endParaRPr lang="zh-TW" altLang="en-US" sz="24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3A059F4-E346-3F7D-65C3-226358214A0F}"/>
              </a:ext>
            </a:extLst>
          </p:cNvPr>
          <p:cNvSpPr txBox="1"/>
          <p:nvPr/>
        </p:nvSpPr>
        <p:spPr>
          <a:xfrm>
            <a:off x="5856790" y="1825625"/>
            <a:ext cx="601111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模型架構優化</a:t>
            </a:r>
            <a:endParaRPr lang="en-US" altLang="zh-TW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動態加權融合</a:t>
            </a:r>
            <a:endParaRPr lang="en-US" altLang="zh-TW" sz="24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球路技術特徵 </a:t>
            </a:r>
            <a:r>
              <a:rPr lang="en-US" altLang="zh-TW" sz="2400" dirty="0"/>
              <a:t>× </a:t>
            </a:r>
            <a:r>
              <a:rPr lang="zh-TW" altLang="en-US" sz="2400" dirty="0"/>
              <a:t>比分心理壓力特</a:t>
            </a:r>
            <a:endParaRPr lang="en-US" altLang="zh-TW" sz="24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雙流 </a:t>
            </a:r>
            <a:r>
              <a:rPr lang="en-US" altLang="zh-TW" sz="2400" dirty="0"/>
              <a:t>GRU </a:t>
            </a:r>
            <a:r>
              <a:rPr lang="zh-TW" altLang="en-US" sz="2400" dirty="0"/>
              <a:t>動態調整融合比重</a:t>
            </a:r>
            <a:endParaRPr lang="en-US" altLang="zh-TW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驗證策略改進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改採交叉驗證，取代單次驗證，提升評估穩定性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44440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E5F05-AEA6-ABAD-3B76-BE0551F7A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F0A0C2-4469-5914-C6E3-66946A292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第四次改良</a:t>
            </a:r>
            <a:r>
              <a:rPr lang="en-US" altLang="zh-TW" dirty="0"/>
              <a:t>-</a:t>
            </a:r>
            <a:r>
              <a:rPr lang="en-US" altLang="zh-TW" dirty="0">
                <a:latin typeface="+mn-lt"/>
              </a:rPr>
              <a:t>Focal </a:t>
            </a:r>
            <a:r>
              <a:rPr lang="en-US" altLang="zh-TW" dirty="0" err="1">
                <a:latin typeface="+mn-lt"/>
              </a:rPr>
              <a:t>Loss+Self</a:t>
            </a:r>
            <a:r>
              <a:rPr lang="en-US" altLang="zh-TW" dirty="0">
                <a:latin typeface="+mn-lt"/>
              </a:rPr>
              <a:t> Attention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4D1C96-0C9E-A26D-8E4D-0861D5B55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8590" y="8562091"/>
            <a:ext cx="10296646" cy="4351338"/>
          </a:xfrm>
        </p:spPr>
        <p:txBody>
          <a:bodyPr>
            <a:normAutofit/>
          </a:bodyPr>
          <a:lstStyle/>
          <a:p>
            <a:pPr marL="914400" lvl="2" indent="0">
              <a:buNone/>
            </a:pPr>
            <a:endParaRPr lang="zh-TW" altLang="en-US" sz="2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16D2EDE-AA90-798A-5060-C2AA7943D76C}"/>
              </a:ext>
            </a:extLst>
          </p:cNvPr>
          <p:cNvSpPr txBox="1"/>
          <p:nvPr/>
        </p:nvSpPr>
        <p:spPr>
          <a:xfrm>
            <a:off x="578734" y="1801334"/>
            <a:ext cx="1077506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Self-Attention </a:t>
            </a:r>
            <a:r>
              <a:rPr lang="zh-TW" altLang="en-US" sz="2400" dirty="0"/>
              <a:t>強化</a:t>
            </a:r>
            <a:endParaRPr lang="en-US" altLang="zh-TW" sz="24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GRU </a:t>
            </a:r>
            <a:r>
              <a:rPr lang="zh-TW" altLang="en-US" sz="2400" dirty="0"/>
              <a:t>輸出後加入 </a:t>
            </a:r>
            <a:r>
              <a:rPr lang="en-US" altLang="zh-TW" sz="2400" dirty="0"/>
              <a:t>Self-Attention</a:t>
            </a:r>
            <a:r>
              <a:rPr lang="zh-TW" altLang="en-US" sz="2400" dirty="0">
                <a:latin typeface="PMingLiU" panose="02020500000000000000" pitchFamily="18" charset="-120"/>
                <a:ea typeface="PMingLiU" panose="02020500000000000000" pitchFamily="18" charset="-120"/>
              </a:rPr>
              <a:t>，</a:t>
            </a:r>
            <a:r>
              <a:rPr lang="zh-TW" altLang="en-US" sz="2400" dirty="0"/>
              <a:t>讓模型自動聚焦關鍵拍次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PAD Token </a:t>
            </a:r>
            <a:r>
              <a:rPr lang="zh-TW" altLang="en-US" sz="2400" dirty="0"/>
              <a:t>修正</a:t>
            </a:r>
            <a:endParaRPr lang="en-US" altLang="zh-TW" sz="24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類別特徵 </a:t>
            </a:r>
            <a:r>
              <a:rPr lang="en-US" altLang="zh-TW" sz="2400" dirty="0"/>
              <a:t>Value + 1 </a:t>
            </a:r>
            <a:r>
              <a:rPr lang="zh-TW" altLang="en-US" sz="2400" dirty="0"/>
              <a:t>平移</a:t>
            </a:r>
            <a:r>
              <a:rPr lang="zh-TW" altLang="en-US" sz="2400" dirty="0">
                <a:latin typeface="Poiret One" panose="00000500000000000000" pitchFamily="2" charset="0"/>
              </a:rPr>
              <a:t>，</a:t>
            </a:r>
            <a:r>
              <a:rPr lang="zh-TW" altLang="en-US" sz="2400" dirty="0"/>
              <a:t>保留 </a:t>
            </a:r>
            <a:r>
              <a:rPr lang="en-US" altLang="zh-TW" sz="2400" dirty="0"/>
              <a:t>0 </a:t>
            </a:r>
            <a:r>
              <a:rPr lang="zh-TW" altLang="en-US" sz="2400" dirty="0"/>
              <a:t>給 </a:t>
            </a:r>
            <a:r>
              <a:rPr lang="en-US" altLang="zh-TW" sz="2400" dirty="0"/>
              <a:t>PAD_TOKEN</a:t>
            </a:r>
            <a:r>
              <a:rPr lang="zh-TW" altLang="en-US" sz="2400" dirty="0"/>
              <a:t>，避免與真實類別混淆</a:t>
            </a:r>
            <a:endParaRPr lang="en-US" altLang="zh-TW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Focal Loss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取代 </a:t>
            </a:r>
            <a:r>
              <a:rPr lang="en-US" altLang="zh-TW" sz="2400" dirty="0" err="1"/>
              <a:t>CrossEntropy</a:t>
            </a:r>
            <a:r>
              <a:rPr lang="en-US" altLang="zh-TW" sz="2400" dirty="0"/>
              <a:t> Loss</a:t>
            </a:r>
            <a:r>
              <a:rPr lang="zh-TW" altLang="en-US" sz="2400" dirty="0">
                <a:latin typeface="Poiret One" panose="00000500000000000000" pitchFamily="2" charset="0"/>
              </a:rPr>
              <a:t> ，</a:t>
            </a:r>
            <a:r>
              <a:rPr lang="zh-TW" altLang="en-US" sz="2400" dirty="0"/>
              <a:t>對稀少球路與難分類樣本加強懲罰</a:t>
            </a:r>
            <a:endParaRPr lang="en-US" altLang="zh-TW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後期權重偏移</a:t>
            </a:r>
            <a:endParaRPr lang="en-US" altLang="zh-TW" sz="24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對回合後期預測給更高權重</a:t>
            </a:r>
            <a:r>
              <a:rPr lang="zh-TW" altLang="en-US" sz="2400" dirty="0">
                <a:latin typeface="Poiret One" panose="00000500000000000000" pitchFamily="2" charset="0"/>
              </a:rPr>
              <a:t>，</a:t>
            </a:r>
            <a:r>
              <a:rPr lang="zh-TW" altLang="en-US" sz="2400" dirty="0"/>
              <a:t>反映末段情況對勝負影響更大</a:t>
            </a:r>
            <a:endParaRPr lang="en-US" altLang="zh-TW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機率校準</a:t>
            </a:r>
            <a:endParaRPr lang="en-US" altLang="zh-TW" sz="24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針對驗證集進行後處理</a:t>
            </a:r>
            <a:r>
              <a:rPr lang="zh-TW" altLang="en-US" sz="2400" dirty="0">
                <a:latin typeface="Poiret One" panose="00000500000000000000" pitchFamily="2" charset="0"/>
              </a:rPr>
              <a:t>，</a:t>
            </a:r>
            <a:r>
              <a:rPr lang="zh-TW" altLang="en-US" sz="2400" dirty="0"/>
              <a:t>修正模型過度自信或系統性偏頗</a:t>
            </a:r>
            <a:endParaRPr lang="en-US" altLang="zh-TW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採樣</a:t>
            </a:r>
            <a:r>
              <a:rPr lang="en-US" altLang="zh-TW" sz="2400" dirty="0"/>
              <a:t>+Head </a:t>
            </a:r>
            <a:r>
              <a:rPr lang="zh-TW" altLang="en-US" sz="2400" dirty="0"/>
              <a:t>優化</a:t>
            </a:r>
            <a:endParaRPr lang="en-US" altLang="zh-TW" sz="24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輸入端提升罕見特徵組合頻率</a:t>
            </a:r>
            <a:r>
              <a:rPr lang="zh-TW" altLang="en-US" sz="2400" dirty="0">
                <a:latin typeface="Poiret One" panose="00000500000000000000" pitchFamily="2" charset="0"/>
              </a:rPr>
              <a:t>，</a:t>
            </a:r>
            <a:r>
              <a:rPr lang="zh-TW" altLang="en-US" sz="2400" dirty="0"/>
              <a:t>拓寬分類 </a:t>
            </a:r>
            <a:r>
              <a:rPr lang="en-US" altLang="zh-TW" sz="2400" dirty="0"/>
              <a:t>Head </a:t>
            </a:r>
            <a:r>
              <a:rPr lang="zh-TW" altLang="en-US" sz="2400" dirty="0"/>
              <a:t>維度增加表達力</a:t>
            </a:r>
          </a:p>
          <a:p>
            <a:pPr lvl="2"/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77812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66FE1D-00DC-AC99-E25D-DFF784664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764" y="-86288"/>
            <a:ext cx="10515600" cy="1325563"/>
          </a:xfrm>
        </p:spPr>
        <p:txBody>
          <a:bodyPr/>
          <a:lstStyle/>
          <a:p>
            <a:r>
              <a:rPr lang="zh-TW" altLang="en-US" dirty="0"/>
              <a:t>比較表</a:t>
            </a:r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C60E2D5B-6058-334C-43CB-E2E16FAADF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234828"/>
              </p:ext>
            </p:extLst>
          </p:nvPr>
        </p:nvGraphicFramePr>
        <p:xfrm>
          <a:off x="838200" y="1131144"/>
          <a:ext cx="10515600" cy="539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79502113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3598627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6545985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6752366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21280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技術面向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Baseline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第二次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第三次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第四次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7558759"/>
                  </a:ext>
                </a:extLst>
              </a:tr>
              <a:tr h="37311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使用模型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LSTM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雙流</a:t>
                      </a:r>
                      <a:r>
                        <a:rPr lang="en-US" altLang="zh-TW" sz="2400" dirty="0"/>
                        <a:t>GRU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2400" dirty="0" err="1">
                          <a:solidFill>
                            <a:srgbClr val="1A1A2E"/>
                          </a:solidFill>
                        </a:rPr>
                        <a:t>雙流</a:t>
                      </a:r>
                      <a:r>
                        <a:rPr lang="en-US" altLang="zh-TW" sz="2400" dirty="0">
                          <a:solidFill>
                            <a:srgbClr val="1A1A2E"/>
                          </a:solidFill>
                        </a:rPr>
                        <a:t> GRU</a:t>
                      </a:r>
                      <a:endParaRPr lang="en-US" altLang="zh-TW" sz="2400" dirty="0"/>
                    </a:p>
                    <a:p>
                      <a:pPr marL="0" indent="0" algn="ctr">
                        <a:buNone/>
                      </a:pPr>
                      <a:r>
                        <a:rPr lang="en-US" altLang="zh-TW" sz="2400" dirty="0">
                          <a:solidFill>
                            <a:srgbClr val="1A1A2E"/>
                          </a:solidFill>
                        </a:rPr>
                        <a:t>+ </a:t>
                      </a:r>
                      <a:r>
                        <a:rPr lang="en-US" altLang="zh-TW" sz="2400" dirty="0" err="1">
                          <a:solidFill>
                            <a:srgbClr val="1A1A2E"/>
                          </a:solidFill>
                        </a:rPr>
                        <a:t>動態加權</a:t>
                      </a:r>
                      <a:endParaRPr lang="en-US" altLang="zh-TW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rgbClr val="1A1A2E"/>
                          </a:solidFill>
                        </a:rPr>
                        <a:t>GRU + Self-Attention</a:t>
                      </a:r>
                      <a:endParaRPr lang="en-US" altLang="zh-TW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4439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特徵工程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官方基礎特徵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2400" dirty="0" err="1">
                          <a:solidFill>
                            <a:srgbClr val="1A1A2E"/>
                          </a:solidFill>
                        </a:rPr>
                        <a:t>增加情境特徵</a:t>
                      </a:r>
                      <a:endParaRPr lang="en-US" altLang="zh-TW" sz="2400" dirty="0"/>
                    </a:p>
                    <a:p>
                      <a:pPr marL="0" indent="0" algn="ctr">
                        <a:buNone/>
                      </a:pPr>
                      <a:r>
                        <a:rPr lang="en-US" altLang="zh-TW" sz="2400" dirty="0">
                          <a:solidFill>
                            <a:srgbClr val="1A1A2E"/>
                          </a:solidFill>
                        </a:rPr>
                        <a:t>(</a:t>
                      </a:r>
                      <a:r>
                        <a:rPr lang="en-US" altLang="zh-TW" sz="2400" dirty="0" err="1">
                          <a:solidFill>
                            <a:srgbClr val="1A1A2E"/>
                          </a:solidFill>
                        </a:rPr>
                        <a:t>分差、局點等</a:t>
                      </a:r>
                      <a:r>
                        <a:rPr lang="en-US" altLang="zh-TW" sz="2400" dirty="0">
                          <a:solidFill>
                            <a:srgbClr val="1A1A2E"/>
                          </a:solidFill>
                        </a:rPr>
                        <a:t>)</a:t>
                      </a:r>
                      <a:endParaRPr lang="en-US" altLang="zh-TW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2400" dirty="0" err="1">
                          <a:solidFill>
                            <a:srgbClr val="1A1A2E"/>
                          </a:solidFill>
                        </a:rPr>
                        <a:t>增加空間特徵</a:t>
                      </a:r>
                      <a:endParaRPr lang="en-US" altLang="zh-TW" sz="2400" dirty="0"/>
                    </a:p>
                    <a:p>
                      <a:pPr marL="0" indent="0" algn="ctr">
                        <a:buNone/>
                      </a:pPr>
                      <a:r>
                        <a:rPr lang="en-US" altLang="zh-TW" sz="2400" dirty="0">
                          <a:solidFill>
                            <a:srgbClr val="1A1A2E"/>
                          </a:solidFill>
                        </a:rPr>
                        <a:t>(</a:t>
                      </a:r>
                      <a:r>
                        <a:rPr lang="en-US" altLang="zh-TW" sz="2400" dirty="0" err="1">
                          <a:solidFill>
                            <a:srgbClr val="1A1A2E"/>
                          </a:solidFill>
                        </a:rPr>
                        <a:t>前中後場、同側</a:t>
                      </a:r>
                      <a:r>
                        <a:rPr lang="en-US" altLang="zh-TW" sz="2400" dirty="0">
                          <a:solidFill>
                            <a:srgbClr val="1A1A2E"/>
                          </a:solidFill>
                        </a:rPr>
                        <a:t>)</a:t>
                      </a:r>
                      <a:endParaRPr lang="en-US" altLang="zh-TW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採樣優化</a:t>
                      </a:r>
                      <a:r>
                        <a:rPr lang="en-US" altLang="zh-TW" sz="2400" dirty="0"/>
                        <a:t>+PAD </a:t>
                      </a:r>
                      <a:r>
                        <a:rPr lang="zh-TW" altLang="en-US" sz="2400" dirty="0"/>
                        <a:t>修正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0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損失函數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2400" dirty="0" err="1">
                          <a:solidFill>
                            <a:srgbClr val="1A1A2E"/>
                          </a:solidFill>
                        </a:rPr>
                        <a:t>CrossEntropy</a:t>
                      </a:r>
                      <a:endParaRPr lang="en-US" altLang="zh-TW" sz="2400" dirty="0"/>
                    </a:p>
                    <a:p>
                      <a:pPr marL="0" indent="0" algn="ctr">
                        <a:buNone/>
                      </a:pPr>
                      <a:r>
                        <a:rPr lang="en-US" altLang="zh-TW" sz="2400" dirty="0" err="1">
                          <a:solidFill>
                            <a:srgbClr val="1A1A2E"/>
                          </a:solidFill>
                        </a:rPr>
                        <a:t>BCEWithLogits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rgbClr val="1A1A2E"/>
                          </a:solidFill>
                        </a:rPr>
                        <a:t>+ </a:t>
                      </a:r>
                      <a:r>
                        <a:rPr lang="en-US" altLang="zh-TW" sz="2400" dirty="0" err="1">
                          <a:solidFill>
                            <a:srgbClr val="1A1A2E"/>
                          </a:solidFill>
                        </a:rPr>
                        <a:t>反比類別權重</a:t>
                      </a:r>
                      <a:endParaRPr lang="en-US" altLang="zh-TW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沿用上一次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Focal Loss</a:t>
                      </a:r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6903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預測</a:t>
                      </a:r>
                      <a:r>
                        <a:rPr lang="en-US" altLang="zh-TW" sz="2400" dirty="0"/>
                        <a:t>Head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rgbClr val="1A1A2E"/>
                          </a:solidFill>
                        </a:rPr>
                        <a:t>3 </a:t>
                      </a:r>
                      <a:r>
                        <a:rPr lang="en-US" altLang="zh-TW" sz="2400" dirty="0" err="1">
                          <a:solidFill>
                            <a:srgbClr val="1A1A2E"/>
                          </a:solidFill>
                        </a:rPr>
                        <a:t>個獨立</a:t>
                      </a:r>
                      <a:r>
                        <a:rPr lang="en-US" altLang="zh-TW" sz="2400" dirty="0">
                          <a:solidFill>
                            <a:srgbClr val="1A1A2E"/>
                          </a:solidFill>
                        </a:rPr>
                        <a:t> Head</a:t>
                      </a:r>
                      <a:endParaRPr lang="en-US" altLang="zh-TW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err="1">
                          <a:solidFill>
                            <a:srgbClr val="1A1A2E"/>
                          </a:solidFill>
                        </a:rPr>
                        <a:t>關聯式</a:t>
                      </a:r>
                      <a:r>
                        <a:rPr lang="en-US" altLang="zh-TW" sz="2400" dirty="0">
                          <a:solidFill>
                            <a:srgbClr val="1A1A2E"/>
                          </a:solidFill>
                        </a:rPr>
                        <a:t> Head</a:t>
                      </a:r>
                      <a:endParaRPr lang="en-US" altLang="zh-TW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沿用上一次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拓寬</a:t>
                      </a:r>
                      <a:r>
                        <a:rPr lang="en-US" altLang="zh-TW" sz="2400" dirty="0"/>
                        <a:t>Head </a:t>
                      </a:r>
                      <a:r>
                        <a:rPr lang="zh-TW" altLang="en-US" sz="2400" dirty="0"/>
                        <a:t>維度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568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驗證策略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err="1">
                          <a:solidFill>
                            <a:srgbClr val="1A1A2E"/>
                          </a:solidFill>
                        </a:rPr>
                        <a:t>固定驗證集</a:t>
                      </a:r>
                      <a:endParaRPr lang="en-US" altLang="zh-TW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err="1">
                          <a:solidFill>
                            <a:srgbClr val="1A1A2E"/>
                          </a:solidFill>
                        </a:rPr>
                        <a:t>固定驗證集</a:t>
                      </a:r>
                      <a:endParaRPr lang="en-US" altLang="zh-TW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交叉驗證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交叉驗證</a:t>
                      </a:r>
                      <a:r>
                        <a:rPr lang="en-US" altLang="zh-TW" sz="2400" dirty="0"/>
                        <a:t>+</a:t>
                      </a:r>
                      <a:r>
                        <a:rPr lang="zh-TW" altLang="en-US" sz="2400" dirty="0"/>
                        <a:t>機率校準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4842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分數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0.28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0.3347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0.3437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0.3511</a:t>
                      </a:r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8583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92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2753F1-D6B0-F778-9F57-A4C20948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結果排名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C8C221-FB8D-6198-1734-1E2A96197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</a:t>
            </a:r>
            <a:r>
              <a:rPr lang="en-US" altLang="zh-TW" dirty="0"/>
              <a:t>Private Leaderboard </a:t>
            </a:r>
            <a:r>
              <a:rPr lang="zh-TW" altLang="en-US" dirty="0"/>
              <a:t>排名第</a:t>
            </a:r>
            <a:r>
              <a:rPr lang="en-US" altLang="zh-TW" dirty="0"/>
              <a:t>50</a:t>
            </a:r>
            <a:r>
              <a:rPr lang="zh-TW" altLang="en-US" dirty="0"/>
              <a:t>名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701C345-3ADB-BB12-FD9C-74461FA2F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92" y="2982472"/>
            <a:ext cx="10020815" cy="230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191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EFBA76-6051-A394-1CA9-30C8A9855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參考文獻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AB07B2-B408-669A-69A9-94BFE2CAD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[1] </a:t>
            </a:r>
            <a:r>
              <a:rPr lang="en-US" altLang="zh-TW" dirty="0" err="1"/>
              <a:t>ShuttleNet</a:t>
            </a:r>
            <a:r>
              <a:rPr lang="en-US" altLang="zh-TW" dirty="0"/>
              <a:t>: Position-aware Fusion of Rally Progress and Player Styles for Stroke Forecasting in Badminton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1687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772</Words>
  <Application>Microsoft Office PowerPoint</Application>
  <PresentationFormat>寬螢幕</PresentationFormat>
  <Paragraphs>126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PMingLiU</vt:lpstr>
      <vt:lpstr>Arial</vt:lpstr>
      <vt:lpstr>Calibri</vt:lpstr>
      <vt:lpstr>Calibri Light</vt:lpstr>
      <vt:lpstr>Poiret One</vt:lpstr>
      <vt:lpstr>Office 佈景主題</vt:lpstr>
      <vt:lpstr>基於時序資料之 桌球戰術與結果預測</vt:lpstr>
      <vt:lpstr>預測任務介紹 </vt:lpstr>
      <vt:lpstr>資料集特徵</vt:lpstr>
      <vt:lpstr>Baseline 架構</vt:lpstr>
      <vt:lpstr>資料EDA的結果</vt:lpstr>
      <vt:lpstr>第一次改良-採用Transform </vt:lpstr>
      <vt:lpstr>第二次改良-採用雙流GRU</vt:lpstr>
      <vt:lpstr>第三次改良-特徵精煉+動態加權融合</vt:lpstr>
      <vt:lpstr>第四次改良-Focal Loss+Self Attention</vt:lpstr>
      <vt:lpstr>比較表</vt:lpstr>
      <vt:lpstr>結果排名</vt:lpstr>
      <vt:lpstr>參考文獻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子萓 王</dc:creator>
  <cp:lastModifiedBy>子萓 王</cp:lastModifiedBy>
  <cp:revision>1</cp:revision>
  <dcterms:created xsi:type="dcterms:W3CDTF">2026-06-17T18:16:07Z</dcterms:created>
  <dcterms:modified xsi:type="dcterms:W3CDTF">2026-06-17T19:42:48Z</dcterms:modified>
</cp:coreProperties>
</file>